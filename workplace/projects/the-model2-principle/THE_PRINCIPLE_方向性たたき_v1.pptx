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91153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1" spc="400">
                <a:solidFill>
                  <a:srgbClr val="7AA3E8"/>
                </a:solidFill>
                <a:latin typeface="Arial"/>
                <a:ea typeface="Arial"/>
              </a:rPr>
              <a:t>SHOEISHA  EDITORIAL DISCUSSION DRAFT —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11535" cy="21031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5800"/>
              </a:lnSpc>
            </a:pPr>
            <a:r>
              <a:rPr sz="4200" b="1">
                <a:solidFill>
                  <a:srgbClr val="FFFFFF"/>
                </a:solidFill>
                <a:latin typeface="Yu Mincho"/>
                <a:ea typeface="Yu Mincho"/>
              </a:rPr>
              <a:t>『THE PRINCIPLE』（仮）</a:t>
            </a:r>
          </a:p>
          <a:p>
            <a:pPr algn="l">
              <a:lnSpc>
                <a:spcPts val="5800"/>
              </a:lnSpc>
            </a:pPr>
            <a:r>
              <a:rPr sz="4200" b="1">
                <a:solidFill>
                  <a:srgbClr val="FFFFFF"/>
                </a:solidFill>
                <a:latin typeface="Yu Mincho"/>
                <a:ea typeface="Yu Mincho"/>
              </a:rPr>
              <a:t>方向性ディスカッション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10911535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700" b="0">
                <a:solidFill>
                  <a:srgbClr val="C9CDD6"/>
                </a:solidFill>
                <a:latin typeface="Yu Gothic"/>
                <a:ea typeface="Yu Gothic"/>
              </a:rPr>
              <a:t>骨子ドラフトを受けた「軸・見せ方・伝える順番」のたたき台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892040"/>
            <a:ext cx="10911535" cy="0"/>
          </a:xfrm>
          <a:prstGeom prst="line">
            <a:avLst/>
          </a:prstGeom>
          <a:ln w="12700">
            <a:solidFill>
              <a:srgbClr val="3A3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  <a:ea typeface="Yu Gothic"/>
              </a:rPr>
              <a:t>2026年8月28日　</a:t>
            </a:r>
            <a:r>
              <a:rPr sz="1200" b="0">
                <a:solidFill>
                  <a:srgbClr val="9BA1AE"/>
                </a:solidFill>
                <a:latin typeface="Yu Gothic"/>
                <a:ea typeface="Yu Gothic"/>
              </a:rPr>
              <a:t>翔泳社 押久保剛・大久保　｜　宛先：福田康隆さん MTG（1.5h）　｜　素材：骨子ドラフト（序章・第1〜4章・終章）＋7月メモ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00 —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本日のゴール：90分で3つ決める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11535" cy="969264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0240"/>
            <a:ext cx="731520" cy="78638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1F4FA3"/>
                </a:solidFill>
                <a:latin typeface="Yu Mincho"/>
                <a:ea typeface="Yu Minch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56816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0242C"/>
                </a:solidFill>
                <a:latin typeface="Yu Gothic"/>
                <a:ea typeface="Yu Gothic"/>
              </a:rPr>
              <a:t>読者と軸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56816"/>
            <a:ext cx="585216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誰の・どんな場面の本か。「原理原則」をどの角度から売るか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04119" y="2103120"/>
            <a:ext cx="1325880" cy="420624"/>
          </a:xfrm>
          <a:prstGeom prst="rect">
            <a:avLst/>
          </a:prstGeom>
          <a:solidFill>
            <a:srgbClr val="F7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0442C"/>
                </a:solidFill>
                <a:latin typeface="Yu Gothic"/>
                <a:ea typeface="Yu Gothic"/>
              </a:rPr>
              <a:t>本日決めたい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80944"/>
            <a:ext cx="10911535" cy="969264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072384"/>
            <a:ext cx="731520" cy="78638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1F4FA3"/>
                </a:solidFill>
                <a:latin typeface="Yu Mincho"/>
                <a:ea typeface="Yu Minch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108960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0242C"/>
                </a:solidFill>
                <a:latin typeface="Yu Gothic"/>
                <a:ea typeface="Yu Gothic"/>
              </a:rPr>
              <a:t>構成の背骨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108960"/>
            <a:ext cx="585216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章立ての基本方針（続編ファースト型か、フェーズ背骨型か）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19" y="3255263"/>
            <a:ext cx="1325880" cy="420624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4FA3"/>
                </a:solidFill>
                <a:latin typeface="Yu Gothic"/>
                <a:ea typeface="Yu Gothic"/>
              </a:rPr>
              <a:t>方向感まで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33087"/>
            <a:ext cx="10911535" cy="969264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224527"/>
            <a:ext cx="731520" cy="78638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1F4FA3"/>
                </a:solidFill>
                <a:latin typeface="Yu Mincho"/>
                <a:ea typeface="Yu Minch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61103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0242C"/>
                </a:solidFill>
                <a:latin typeface="Yu Gothic"/>
                <a:ea typeface="Yu Gothic"/>
              </a:rPr>
              <a:t>進め方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61103"/>
            <a:ext cx="585216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執筆順序・レビューサイクル・タイトル検討の段取り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19" y="4407407"/>
            <a:ext cx="1325880" cy="420624"/>
          </a:xfrm>
          <a:prstGeom prst="rect">
            <a:avLst/>
          </a:prstGeom>
          <a:solidFill>
            <a:srgbClr val="F7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0442C"/>
                </a:solidFill>
                <a:latin typeface="Yu Gothic"/>
                <a:ea typeface="Yu Gothic"/>
              </a:rPr>
              <a:t>本日決めたい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1"/>
            <a:ext cx="1091153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Yu Gothic"/>
                <a:ea typeface="Yu Gothic"/>
              </a:rPr>
              <a:t>タイムボックス案：前提共有 10分 → 読者と軸 30分 → 構成 30分 → 見せ方・タイトル 10分 → 進め方 10分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編集部の推し（先に結論）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Yu Gothic"/>
                <a:ea typeface="Yu Gothic"/>
              </a:rPr>
              <a:t>当日はこの4点を叩いてもらう前提のたたき台です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18607" cy="210312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1005840" cy="292608"/>
          </a:xfrm>
          <a:prstGeom prst="rect">
            <a:avLst/>
          </a:prstGeom>
          <a:solidFill>
            <a:srgbClr val="1F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読者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4861407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0242C"/>
                </a:solidFill>
                <a:latin typeface="Yu Mincho"/>
                <a:ea typeface="Yu Mincho"/>
              </a:rPr>
              <a:t>THE MODEL読者の「7年後」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07791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20242C"/>
                </a:solidFill>
                <a:latin typeface="Yu Gothic"/>
                <a:ea typeface="Yu Gothic"/>
              </a:rPr>
              <a:t>当時の営業・マーケ実務層が、いま経営を任されている。続編の読者は新しい誰かではなく、同じ読者のいまの悩みに定める。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828800"/>
            <a:ext cx="5318607" cy="210312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61607" y="2057400"/>
            <a:ext cx="1005840" cy="292608"/>
          </a:xfrm>
          <a:prstGeom prst="rect">
            <a:avLst/>
          </a:prstGeom>
          <a:solidFill>
            <a:srgbClr val="1F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450592"/>
            <a:ext cx="4861407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0242C"/>
                </a:solidFill>
                <a:latin typeface="Yu Mincho"/>
                <a:ea typeface="Yu Mincho"/>
              </a:rPr>
              <a:t>原理原則を売り物に、フェーズを背骨に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907791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20242C"/>
                </a:solidFill>
                <a:latin typeface="Yu Gothic"/>
                <a:ea typeface="Yu Gothic"/>
              </a:rPr>
              <a:t>最も新しい発見は「フェーズの誤認が最大の失敗要因」（19社を横から見た帰結）。原理原則はフェーズという地図に載せた瞬間、現在地から引ける実用書になる。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5318607" cy="210312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343400"/>
            <a:ext cx="1005840" cy="292608"/>
          </a:xfrm>
          <a:prstGeom prst="rect">
            <a:avLst/>
          </a:prstGeom>
          <a:solidFill>
            <a:srgbClr val="1F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順番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36592"/>
            <a:ext cx="4861407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0242C"/>
                </a:solidFill>
                <a:latin typeface="Yu Mincho"/>
                <a:ea typeface="Yu Mincho"/>
              </a:rPr>
              <a:t>THE MODELアンサーは1章に圧縮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93792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20242C"/>
                </a:solidFill>
                <a:latin typeface="Yu Gothic"/>
                <a:ea typeface="Yu Gothic"/>
              </a:rPr>
              <a:t>過去の答え合わせで前半を使い切らず、「横の視点 → フェーズの発見」をできるだけ早く出す。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14800"/>
            <a:ext cx="5318607" cy="210312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607" y="4343400"/>
            <a:ext cx="1005840" cy="292608"/>
          </a:xfrm>
          <a:prstGeom prst="rect">
            <a:avLst/>
          </a:prstGeom>
          <a:solidFill>
            <a:srgbClr val="1F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タイトル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4736592"/>
            <a:ext cx="4861407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0242C"/>
                </a:solidFill>
                <a:latin typeface="Yu Mincho"/>
                <a:ea typeface="Yu Mincho"/>
              </a:rPr>
              <a:t>『THE PRINCIPLE』を推す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5193792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20242C"/>
                </a:solidFill>
                <a:latin typeface="Yu Gothic"/>
                <a:ea typeface="Yu Gothic"/>
              </a:rPr>
              <a:t>序章の結び「自分にとってのPRINCIPLEを作ってほしい」と完全整合。単数形の意味（ダリオとの差別化）も当日議論したい。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01 — CURRENT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骨子ドラフトの現状マップ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Yu Gothic"/>
                <a:ea typeface="Yu Gothic"/>
              </a:rPr>
              <a:t>共有6ファイルを読み込み整理。「P」印の原理原則の断片は、そのまま商品価値になる粒が揃っている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11535" cy="4352544"/>
        </p:xfrm>
        <a:graphic>
          <a:graphicData uri="http://schemas.openxmlformats.org/drawingml/2006/table">
            <a:tbl>
              <a:tblPr/>
              <a:tblGrid>
                <a:gridCol w="1188720"/>
                <a:gridCol w="9722815"/>
              </a:tblGrid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章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序章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なぜもう一度書くのか — 環境の変化（SaaS is Dead／AI）＋立場の変化（縦→横の視点）。原理原則＝判断に根拠を持つための蓄積。マシン／経営視点の定義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第1章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「THE MODEL」とはなんだったのか — 成立秘話（vs シーベル、2004年スライド）／よくある疑問への回答／7年の変化（AIエージェント、支援から完結へ）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第2章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横から見るJapan Cloudと「フェーズ」という発見 — 持続的成長の条件／成長4パターン／時間差の原則　※後半にGTM・報酬設計・マネジメントシステムまで同居＝過積載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第3章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フェーズ別の原理原則 — STARS 5フェーズ×（特徴／重点アクション／原理原則）。「フェーズの誤認が最大の失敗要因」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第4章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採用・リーダーシップ・キャリア — マルチプライヤー／やってはいけない5つ・やるべき4つ（新任リーダーの90日論）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終章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自分のPRINCIPLESを作る — レゴと粘土／各章ワークのとりまとめ／Journey is the reward（退職メール全文）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01 — CURRENT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ドラフトから読み取れる構造上のサイン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Yu Gothic"/>
                <a:ea typeface="Yu Gothic"/>
              </a:rPr>
              <a:t>いま構成を決めるのが最も効率的なタイミング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454298" cy="338328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9144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3000" b="1">
                <a:solidFill>
                  <a:srgbClr val="B0442C"/>
                </a:solidFill>
                <a:latin typeface="Yu Mincho"/>
                <a:ea typeface="Yu Minch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2942234" cy="594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0242C"/>
                </a:solidFill>
                <a:latin typeface="Yu Mincho"/>
                <a:ea typeface="Yu Mincho"/>
              </a:rPr>
              <a:t>章構成は未確定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29000"/>
            <a:ext cx="2942234" cy="1737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750"/>
              </a:lnSpc>
            </a:pPr>
            <a:r>
              <a:rPr sz="1150" b="0">
                <a:solidFill>
                  <a:srgbClr val="20242C"/>
                </a:solidFill>
                <a:latin typeface="Yu Gothic"/>
                <a:ea typeface="Yu Gothic"/>
              </a:rPr>
              <a:t>本文中に第5章（マネジメントシステム）・第6章（立ち上げ）・第7章（新任リーダー）への参照があり、頭の中の構成は7章前後。共有ドラフトの4章立てとズレている。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65960"/>
            <a:ext cx="3454298" cy="338328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4730" y="2194560"/>
            <a:ext cx="9144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3000" b="1">
                <a:solidFill>
                  <a:srgbClr val="B0442C"/>
                </a:solidFill>
                <a:latin typeface="Yu Mincho"/>
                <a:ea typeface="Yu Minch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4730" y="2788920"/>
            <a:ext cx="2942234" cy="594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0242C"/>
                </a:solidFill>
                <a:latin typeface="Yu Mincho"/>
                <a:ea typeface="Yu Mincho"/>
              </a:rPr>
              <a:t>第2章は分割必至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4730" y="3429000"/>
            <a:ext cx="2942234" cy="1737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750"/>
              </a:lnSpc>
            </a:pPr>
            <a:r>
              <a:rPr sz="1150" b="0">
                <a:solidFill>
                  <a:srgbClr val="20242C"/>
                </a:solidFill>
                <a:latin typeface="Yu Gothic"/>
                <a:ea typeface="Yu Gothic"/>
              </a:rPr>
              <a:t>「フェーズという発見」「GTM原理原則」「マネジメントシステム」が1章に同居。どう割るかの判断が、そのまま「本の軸」の議論になる。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965960"/>
            <a:ext cx="3454298" cy="338328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3348" y="2194560"/>
            <a:ext cx="9144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3000" b="1">
                <a:solidFill>
                  <a:srgbClr val="B0442C"/>
                </a:solidFill>
                <a:latin typeface="Yu Mincho"/>
                <a:ea typeface="Yu Minch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348" y="2788920"/>
            <a:ext cx="2942234" cy="594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0242C"/>
                </a:solidFill>
                <a:latin typeface="Yu Mincho"/>
                <a:ea typeface="Yu Mincho"/>
              </a:rPr>
              <a:t>体験設計の種がある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3429000"/>
            <a:ext cx="2942234" cy="1737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750"/>
              </a:lnSpc>
            </a:pPr>
            <a:r>
              <a:rPr sz="1150" b="0">
                <a:solidFill>
                  <a:srgbClr val="20242C"/>
                </a:solidFill>
                <a:latin typeface="Yu Gothic"/>
                <a:ea typeface="Yu Gothic"/>
              </a:rPr>
              <a:t>各章末ワーク＋終章での「自分のPRINCIPLE」とりまとめ。読者が書き込む一冊通しの体験は、前作にない差別化資産。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02 —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前提の確認：勝ち筋と、最大の敵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18607" cy="3063240"/>
          </a:xfrm>
          <a:prstGeom prst="rect">
            <a:avLst/>
          </a:prstGeom>
          <a:solidFill>
            <a:srgbClr val="E8EEF8"/>
          </a:solidFill>
          <a:ln w="12700">
            <a:solidFill>
              <a:srgbClr val="1F4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69967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F4FA3"/>
                </a:solidFill>
                <a:latin typeface="Yu Mincho"/>
                <a:ea typeface="Yu Mincho"/>
              </a:rPr>
              <a:t>勝ち筋は「誰が言うか」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69967" cy="21031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2000"/>
              </a:lnSpc>
            </a:pP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原理原則は誰でも語れる。しかし「累計19社の日本法人設立に関わり、12社の取締役として同じ時期に横から見た」人は日本にほぼいない。この観測点の希少性が本書の根拠。序章の「横の視点」がそれ。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828800"/>
            <a:ext cx="5318607" cy="3063240"/>
          </a:xfrm>
          <a:prstGeom prst="rect">
            <a:avLst/>
          </a:prstGeom>
          <a:solidFill>
            <a:srgbClr val="F7ECE8"/>
          </a:solidFill>
          <a:ln w="12700">
            <a:solidFill>
              <a:srgbClr val="B04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2103120"/>
            <a:ext cx="4769967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B0442C"/>
                </a:solidFill>
                <a:latin typeface="Yu Mincho"/>
                <a:ea typeface="Yu Mincho"/>
              </a:rPr>
              <a:t>最大の敵は「原理原則」の抽象度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2651760"/>
            <a:ext cx="4769967" cy="21031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2000"/>
              </a:lnSpc>
            </a:pP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THE MODELが売れたのは、持ち帰れる「型」があったから。本書は「型ではなく原則だ」と言う本であり、型を否定する本は型ほど売れにくい。だから編集の仕事は、型の代わりの「持ち帰れる道具」（フェーズ地図・原則の型化・ワーク）を設計するこ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11535" cy="1143000"/>
          </a:xfrm>
          <a:prstGeom prst="rect">
            <a:avLst/>
          </a:prstGeom>
          <a:solidFill>
            <a:srgbClr val="F2F2EE"/>
          </a:solidFill>
        </p:spPr>
        <p:txBody>
          <a:bodyPr wrap="square" anchor="t" lIns="228600" rIns="228600" tIns="109728" bIns="109728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>
                <a:solidFill>
                  <a:srgbClr val="B0442C"/>
                </a:solidFill>
                <a:latin typeface="Yu Gothic"/>
                <a:ea typeface="Yu Gothic"/>
              </a:rPr>
              <a:t>あえて指摘：</a:t>
            </a:r>
            <a:r>
              <a:rPr sz="1200" b="0">
                <a:solidFill>
                  <a:srgbClr val="20242C"/>
                </a:solidFill>
                <a:latin typeface="Yu Gothic"/>
                <a:ea typeface="Yu Gothic"/>
              </a:rPr>
              <a:t>狙いは「フレームワーク紹介で終わらせない」なのに、現骨子はSTARS・Playing to Win・ダリオ等、他者フレームワークの引用が背骨になりつつある。終章の「レゴと粘土」こそ本書の思想 — この思想を序盤に宣言し、主役は福田さん自身の「P」、フレームワークは脇役に。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03 — ISSUE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論点1：読者は誰か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92" cy="2999232"/>
        </p:xfrm>
        <a:graphic>
          <a:graphicData uri="http://schemas.openxmlformats.org/drawingml/2006/table">
            <a:tbl>
              <a:tblPr/>
              <a:tblGrid>
                <a:gridCol w="640080"/>
                <a:gridCol w="4297680"/>
                <a:gridCol w="3383280"/>
                <a:gridCol w="2587752"/>
              </a:tblGrid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案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読者像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強み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弱み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1F4FA3"/>
                          </a:solidFill>
                          <a:latin typeface="Yu Gothic"/>
                          <a:ea typeface="Yu Gothic"/>
                        </a:rPr>
                        <a:t>a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THE MODEL読者の「7年後」— 当時の実務層がいま部長・役員・社長に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前作の読者基盤を引き継げる。悩みの変化（実行→設計）が本の主題と一致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読者の高齢化とともに市場が狭まる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1F4FA3"/>
                          </a:solidFill>
                          <a:latin typeface="Yu Gothic"/>
                          <a:ea typeface="Yu Gothic"/>
                        </a:rPr>
                        <a:t>b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これから経営を担う人 — GM候補・次世代リーダー・経営者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市場が広い。「体系的に経営を学ぶ場が日本にない」への回答になる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経営書の棚は激戦区。続編の意味が弱まる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1F4FA3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SaaS/IT業界の当事者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具体性が最も活きる。講演・SNSの初速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市場が最も狭い。「業界本」に見えると前作の業界外読者を失う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911535" cy="1051560"/>
          </a:xfrm>
          <a:prstGeom prst="rect">
            <a:avLst/>
          </a:prstGeom>
          <a:solidFill>
            <a:srgbClr val="E8EEF8"/>
          </a:solidFill>
          <a:ln w="12700">
            <a:solidFill>
              <a:srgbClr val="1F4FA3"/>
            </a:solidFill>
          </a:ln>
        </p:spPr>
        <p:txBody>
          <a:bodyPr wrap="square" anchor="t" lIns="228600" rIns="228600" tIns="109728" bIns="109728">
            <a:spAutoFit/>
          </a:bodyPr>
          <a:lstStyle/>
          <a:p>
            <a:pPr algn="l">
              <a:lnSpc>
                <a:spcPts val="1900"/>
              </a:lnSpc>
            </a:pPr>
            <a:r>
              <a:rPr sz="1250" b="1">
                <a:solidFill>
                  <a:srgbClr val="1F4FA3"/>
                </a:solidFill>
                <a:latin typeface="Yu Gothic"/>
                <a:ea typeface="Yu Gothic"/>
              </a:rPr>
              <a:t>推し：a を主読者、b を拡張読者に。</a:t>
            </a: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「THE MODELで実行を学んだあなたが、今度は設計する側に回る番だ」という一本のメッセージで a→b が繋がる。帯・序章の語りかけの主語をここに固定したい。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04 — ISSUE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論点2：本の軸 — 3つの候補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Yu Gothic"/>
                <a:ea typeface="Yu Gothic"/>
              </a:rPr>
              <a:t>福田さんの「どういう軸で書くのがいいか迷っている」への選択肢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54298" cy="324612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48840"/>
            <a:ext cx="868680" cy="292608"/>
          </a:xfrm>
          <a:prstGeom prst="rect">
            <a:avLst/>
          </a:prstGeom>
          <a:solidFill>
            <a:srgbClr val="1F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軸A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997098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1">
                <a:solidFill>
                  <a:srgbClr val="20242C"/>
                </a:solidFill>
                <a:latin typeface="Yu Mincho"/>
                <a:ea typeface="Yu Mincho"/>
              </a:rPr>
              <a:t>続編軸 —「THE MODEL、その後」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2997098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050" b="0">
                <a:solidFill>
                  <a:srgbClr val="5A6070"/>
                </a:solidFill>
                <a:latin typeface="Yu Gothic"/>
                <a:ea typeface="Yu Gothic"/>
              </a:rPr>
              <a:t>前作の誤解を解き、7年の変化（SaaS is Dead／AI）に答える。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997098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050" b="0">
                <a:solidFill>
                  <a:srgbClr val="20242C"/>
                </a:solidFill>
                <a:latin typeface="Yu Gothic"/>
                <a:ea typeface="Yu Gothic"/>
              </a:rPr>
              <a:t>入口として最強。ただし軸にすると「答え合わせ本」で終わる。→ 1章に圧縮して入口に使う。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920240"/>
            <a:ext cx="3454298" cy="324612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7298" y="2148840"/>
            <a:ext cx="868680" cy="292608"/>
          </a:xfrm>
          <a:prstGeom prst="rect">
            <a:avLst/>
          </a:prstGeom>
          <a:solidFill>
            <a:srgbClr val="1F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軸B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60320"/>
            <a:ext cx="2997098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1">
                <a:solidFill>
                  <a:srgbClr val="20242C"/>
                </a:solidFill>
                <a:latin typeface="Yu Mincho"/>
                <a:ea typeface="Yu Mincho"/>
              </a:rPr>
              <a:t>原理原則軸 —「福田版PRINCIPLES」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3310128"/>
            <a:ext cx="2997098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050" b="0">
                <a:solidFill>
                  <a:srgbClr val="5A6070"/>
                </a:solidFill>
                <a:latin typeface="Yu Gothic"/>
                <a:ea typeface="Yu Gothic"/>
              </a:rPr>
              <a:t>判断に根拠を持つための蓄積を、エピソードとともに編む。終章が着地。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4206240"/>
            <a:ext cx="2997098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050" b="0">
                <a:solidFill>
                  <a:srgbClr val="20242C"/>
                </a:solidFill>
                <a:latin typeface="Yu Gothic"/>
                <a:ea typeface="Yu Gothic"/>
              </a:rPr>
              <a:t>本書のテーマそのもの。ただし並べるだけでは総花的。売り物ではあるが、背骨は別に必要。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7316" y="1920240"/>
            <a:ext cx="3454298" cy="324612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5916" y="2148840"/>
            <a:ext cx="868680" cy="292608"/>
          </a:xfrm>
          <a:prstGeom prst="rect">
            <a:avLst/>
          </a:prstGeom>
          <a:solidFill>
            <a:srgbClr val="B04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2560320"/>
            <a:ext cx="2997098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1">
                <a:solidFill>
                  <a:srgbClr val="20242C"/>
                </a:solidFill>
                <a:latin typeface="Yu Mincho"/>
                <a:ea typeface="Yu Mincho"/>
              </a:rPr>
              <a:t>フェーズ軸 —「現在地の地図」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3310128"/>
            <a:ext cx="2997098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050" b="0">
                <a:solidFill>
                  <a:srgbClr val="5A6070"/>
                </a:solidFill>
                <a:latin typeface="Yu Gothic"/>
                <a:ea typeface="Yu Gothic"/>
              </a:rPr>
              <a:t>19社を横から見た発見＝フェーズの誤認が最大の失敗要因。フェーズごとに効く原則が変わる。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4206240"/>
            <a:ext cx="2997098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050" b="0">
                <a:solidFill>
                  <a:srgbClr val="20242C"/>
                </a:solidFill>
                <a:latin typeface="Yu Gothic"/>
                <a:ea typeface="Yu Gothic"/>
              </a:rPr>
              <a:t>最も新しく、最も福田さんにしか書けない主張。読者が現在地から本を引ける実用の背骨。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11535" cy="914400"/>
          </a:xfrm>
          <a:prstGeom prst="rect">
            <a:avLst/>
          </a:prstGeom>
          <a:solidFill>
            <a:srgbClr val="E8EEF8"/>
          </a:solidFill>
          <a:ln w="12700">
            <a:solidFill>
              <a:srgbClr val="1F4FA3"/>
            </a:solidFill>
          </a:ln>
        </p:spPr>
        <p:txBody>
          <a:bodyPr wrap="square" anchor="t" lIns="228600" rIns="228600" tIns="109728" bIns="109728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>
                <a:solidFill>
                  <a:srgbClr val="1F4FA3"/>
                </a:solidFill>
                <a:latin typeface="Yu Gothic"/>
                <a:ea typeface="Yu Gothic"/>
              </a:rPr>
              <a:t>推し：Cを背骨に、Bを売り物に、Aは第1章へ圧縮。</a:t>
            </a:r>
            <a:r>
              <a:rPr sz="1200" b="0">
                <a:solidFill>
                  <a:srgbClr val="20242C"/>
                </a:solidFill>
                <a:latin typeface="Yu Gothic"/>
                <a:ea typeface="Yu Gothic"/>
              </a:rPr>
              <a:t>一文で「会社のフェーズを見誤るな。フェーズごとに効く原理原則を、19社の実話で渡す」。前作＝分業という空間の地図、本作＝フェーズという時間の地図。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05 — ISSUE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論点3：伝える順番 — 構成2案の比較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18607" cy="2926080"/>
          </a:xfrm>
          <a:prstGeom prst="rect">
            <a:avLst/>
          </a:prstGeom>
          <a:solidFill>
            <a:srgbClr val="F2F2EE"/>
          </a:solidFill>
          <a:ln w="9525">
            <a:solidFill>
              <a:srgbClr val="D9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868680" cy="292608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861407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50" b="1">
                <a:solidFill>
                  <a:srgbClr val="20242C"/>
                </a:solidFill>
                <a:latin typeface="Yu Mincho"/>
                <a:ea typeface="Yu Mincho"/>
              </a:rPr>
              <a:t>続編ファースト型（現骨子の整流）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>
                <a:solidFill>
                  <a:srgbClr val="5A6070"/>
                </a:solidFill>
                <a:latin typeface="Yu Gothic"/>
                <a:ea typeface="Yu Gothic"/>
              </a:rPr>
              <a:t>序章 → THE MODELアンサー → 横の視点と時間差 → GTM戦略の原則 → マネジメントシステム → フェーズ別原則 → 採用・リーダーシップ → 終章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F4FA3"/>
                </a:solidFill>
                <a:latin typeface="Yu Gothic"/>
                <a:ea typeface="Yu Gothic"/>
              </a:rPr>
              <a:t>○ 現ドラフトから距離が近く執筆負荷が小さい。前作読者の期待に素直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B0442C"/>
                </a:solidFill>
                <a:latin typeface="Yu Gothic"/>
                <a:ea typeface="Yu Gothic"/>
              </a:rPr>
              <a:t>× テーマ別の並びで「どこを読めばいいか」が見えにくい。前半が過去の話で重い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828800"/>
            <a:ext cx="5318607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B04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61607" y="2011680"/>
            <a:ext cx="868680" cy="292608"/>
          </a:xfrm>
          <a:prstGeom prst="rect">
            <a:avLst/>
          </a:prstGeom>
          <a:solidFill>
            <a:srgbClr val="B04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spc="150">
                <a:solidFill>
                  <a:srgbClr val="FFFFFF"/>
                </a:solidFill>
                <a:latin typeface="Arial"/>
                <a:ea typeface="Arial"/>
              </a:rPr>
              <a:t>案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377440"/>
            <a:ext cx="4861407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50" b="1">
                <a:solidFill>
                  <a:srgbClr val="20242C"/>
                </a:solidFill>
                <a:latin typeface="Yu Mincho"/>
                <a:ea typeface="Yu Mincho"/>
              </a:rPr>
              <a:t>フェーズ背骨型（推し）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816352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>
                <a:solidFill>
                  <a:srgbClr val="5A6070"/>
                </a:solidFill>
                <a:latin typeface="Yu Gothic"/>
                <a:ea typeface="Yu Gothic"/>
              </a:rPr>
              <a:t>序章 → THE MODELアンサー（圧縮）→ 横の視点と「フェーズ」の発見 → フェーズ別に原則を編む（各フェーズにGTM・システム・人を織り込む）→ 終章 自分のPRINCIPLE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3767328"/>
            <a:ext cx="4861407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F4FA3"/>
                </a:solidFill>
                <a:latin typeface="Yu Gothic"/>
                <a:ea typeface="Yu Gothic"/>
              </a:rPr>
              <a:t>○ 読者が現在地から引ける。「地図→各エリアの原則→自分の原則」と体験が一直線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B0442C"/>
                </a:solidFill>
                <a:latin typeface="Yu Gothic"/>
                <a:ea typeface="Yu Gothic"/>
              </a:rPr>
              <a:t>× 横断テーマをフェーズに割り付ける再構成コストが大きい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11535" cy="1280160"/>
          </a:xfrm>
          <a:prstGeom prst="rect">
            <a:avLst/>
          </a:prstGeom>
          <a:solidFill>
            <a:srgbClr val="E8EEF8"/>
          </a:solidFill>
          <a:ln w="12700">
            <a:solidFill>
              <a:srgbClr val="1F4FA3"/>
            </a:solidFill>
          </a:ln>
        </p:spPr>
        <p:txBody>
          <a:bodyPr wrap="square" anchor="t" lIns="228600" rIns="228600" tIns="109728" bIns="109728">
            <a:spAutoFit/>
          </a:bodyPr>
          <a:lstStyle/>
          <a:p>
            <a:pPr algn="l">
              <a:lnSpc>
                <a:spcPts val="1850"/>
              </a:lnSpc>
            </a:pPr>
            <a:r>
              <a:rPr sz="1200" b="1">
                <a:solidFill>
                  <a:srgbClr val="1F4FA3"/>
                </a:solidFill>
                <a:latin typeface="Yu Gothic"/>
                <a:ea typeface="Yu Gothic"/>
              </a:rPr>
              <a:t>折衷（実務案）：二部構成。</a:t>
            </a:r>
            <a:r>
              <a:rPr sz="1200" b="0">
                <a:solidFill>
                  <a:srgbClr val="20242C"/>
                </a:solidFill>
                <a:latin typeface="Yu Gothic"/>
                <a:ea typeface="Yu Gothic"/>
              </a:rPr>
              <a:t>第1部「地図」＝アンサー＋横の視点＋フェーズの発見。第2部「原則」＝GTM／マネジメントシステム／人・組織のテーマ章に、全原則へ「効くフェーズ」のタグを付ける。テーマ章の書きやすさとフェーズの引きやすさを両立、現ドラフトからの移行も現実的。当日はここを一番議論した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06 — ISSUE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論点4：見せ方 —「原則」をプロダクトとして設計する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86000" cy="804672"/>
          </a:xfrm>
          <a:prstGeom prst="rect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0242C"/>
                </a:solidFill>
                <a:latin typeface="Yu Gothic"/>
                <a:ea typeface="Yu Gothic"/>
              </a:rPr>
              <a:t>原則の型化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8442655" cy="8046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100" b="0">
                <a:solidFill>
                  <a:srgbClr val="20242C"/>
                </a:solidFill>
                <a:latin typeface="Yu Gothic"/>
                <a:ea typeface="Yu Gothic"/>
              </a:rPr>
              <a:t>散在する「P」を〈言い切り1行＋なぜ＋実話1本＋読者への問い〉の定型に統一。全50〜70本を通し番号で管理し、巻末に原則インデックス（フェーズ×テーマ）。→ 持ち帰れる道具 その1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2286000" cy="804672"/>
          </a:xfrm>
          <a:prstGeom prst="rect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0242C"/>
                </a:solidFill>
                <a:latin typeface="Yu Gothic"/>
                <a:ea typeface="Yu Gothic"/>
              </a:rPr>
              <a:t>ワークの本線化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8442655" cy="8046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100" b="0">
                <a:solidFill>
                  <a:srgbClr val="20242C"/>
                </a:solidFill>
                <a:latin typeface="Yu Gothic"/>
                <a:ea typeface="Yu Gothic"/>
              </a:rPr>
              <a:t>仮案の章末ワークを正式採用し、終章「自分のPRINCIPLEを作る」で回収する一冊通しの体験に。書き込んだ瞬間、本が「自分の原理原則ノート」になる。→ 道具 その2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2286000" cy="804672"/>
          </a:xfrm>
          <a:prstGeom prst="rect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0242C"/>
                </a:solidFill>
                <a:latin typeface="Yu Gothic"/>
                <a:ea typeface="Yu Gothic"/>
              </a:rPr>
              <a:t>図版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657600"/>
            <a:ext cx="8442655" cy="8046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100" b="0">
                <a:solidFill>
                  <a:srgbClr val="20242C"/>
                </a:solidFill>
                <a:latin typeface="Yu Gothic"/>
                <a:ea typeface="Yu Gothic"/>
              </a:rPr>
              <a:t>成長4パターン（A〜D）・フェーズ地図（STARS改）・時間差の構造は本書の顔になる図。前作の「あのスライド」級に磨く。2004年スライド等の一次資料は写真的に見せる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2286000" cy="804672"/>
          </a:xfrm>
          <a:prstGeom prst="rect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0242C"/>
                </a:solidFill>
                <a:latin typeface="Yu Gothic"/>
                <a:ea typeface="Yu Gothic"/>
              </a:rPr>
              <a:t>引用の整理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572000"/>
            <a:ext cx="8442655" cy="8046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100" b="0">
                <a:solidFill>
                  <a:srgbClr val="20242C"/>
                </a:solidFill>
                <a:latin typeface="Yu Gothic"/>
                <a:ea typeface="Yu Gothic"/>
              </a:rPr>
              <a:t>ワトキンス・ダリオ・ワイズマン・Playing to Win ほか引用多数。許諾要否の洗い出しを編集側で早期に実施（著者注にも【要確認】複数）。オリジナル原則との比率管理を兼ねる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86400"/>
            <a:ext cx="2286000" cy="804672"/>
          </a:xfrm>
          <a:prstGeom prst="rect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0242C"/>
                </a:solidFill>
                <a:latin typeface="Yu Gothic"/>
                <a:ea typeface="Yu Gothic"/>
              </a:rPr>
              <a:t>AI章の鮮度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486400"/>
            <a:ext cx="8442655" cy="8046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550"/>
              </a:lnSpc>
            </a:pPr>
            <a:r>
              <a:rPr sz="1100" b="0">
                <a:solidFill>
                  <a:srgbClr val="20242C"/>
                </a:solidFill>
                <a:latin typeface="Yu Gothic"/>
                <a:ea typeface="Yu Gothic"/>
              </a:rPr>
              <a:t>第1章後半のAI論は出版時点で必ず古びる。校了直前アップデート枠として設計し、構造（変わらない原則）と時事（変わる実行手段）を段落レベルで分離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07 —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タイトルの方向感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Yu Gothic"/>
                <a:ea typeface="Yu Gothic"/>
              </a:rPr>
              <a:t>今日決めず、「THEシリーズ英語一語で行くか」の方向感だけ合意できれば十分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908791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050791"/>
              </a:tblGrid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候補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根拠・狙い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論点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B0442C"/>
                          </a:solidFill>
                          <a:latin typeface="Yu Gothic"/>
                          <a:ea typeface="Yu Gothic"/>
                        </a:rPr>
                        <a:t>THE PRINCIPLE</a:t>
                      </a:r>
                    </a:p>
                  </a:txBody>
                  <a:tcPr marL="82296" marR="82296" marT="45720" marB="45720" anchor="ctr">
                    <a:solidFill>
                      <a:srgbClr val="F7EC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序章の結び「自分にとってのPRINCIPLEを作ってほしい」と完全整合。THEシリーズの連続性。単数形＝あなた自身の一つの原理原則という渡し方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ダリオ『PRINCIPLES』との距離感（本文で参照しており確信犯として扱えるか）。カタカナ読みの座り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THE PRINCIPLES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複数の原則集であることに忠実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ダリオとほぼ同名。検索・書店で埋没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THE MODEL 2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続編認知が最速。現ドラフトの作業名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「型の続き」を期待させ、本書の主張（型ではなく原則）と自己矛盾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THE PHASE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フェーズ背骨案に忠実。「現在地の地図」が一語で立つ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原理原則というテーマ性が消える。語の強度が弱い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F4FA3"/>
                </a:solidFill>
                <a:latin typeface="Yu Gothic"/>
                <a:ea typeface="Yu Gothic"/>
              </a:rPr>
              <a:t>推し：『THE PRINCIPLE』＋日本語サブタイトルで実利を補う（例：「なぜあの会社は、同じ壁にぶつかるのか」「フェーズで読み解く経営の原理原則」）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08 —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正直な懸念（先に自分たちで挙げておく）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92" cy="4608576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25112"/>
              </a:tblGrid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懸念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中身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打ち手</a:t>
                      </a:r>
                    </a:p>
                  </a:txBody>
                  <a:tcPr marL="82296" marR="82296" marT="45720" marB="45720" anchor="ctr">
                    <a:solidFill>
                      <a:srgbClr val="20242C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続編の宿命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前作比で必ず評価される。「型」ほどのキャッチーさが原理原則にはない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持ち帰れる道具（原則インデックス・ワーク）を型の代替に。帯は「答え」ではなく「地図」を約束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外資IT特化の狭さ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n=19の具体は強いが読者母数は狭い。「業界回顧録」に見えたら負け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無理に汎用化せず、結論だけ汎用化（骨子の方針通り）。章末ワークが読み替え装置として機能するか編集で検証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引用密度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他者フレームワーク中心に見えると前作の反省と矛盾。許諾実務も重い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主役を福田さんの「P」に。引用は出典明記の脇役へ。許諾リストを編集側で即作成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AI章の陳腐化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出版まで1年前後と想定するとAI記述は確実に古びる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校了直前アップデート枠＋「変わらないもの」中心の記述に寄せる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1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「関心ある人いるのかな」問題</a:t>
                      </a:r>
                    </a:p>
                  </a:txBody>
                  <a:tcPr marL="82296" marR="82296" marT="45720" marB="45720" anchor="ctr">
                    <a:solidFill>
                      <a:srgbClr val="F2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前作でも途中経過で陥った不安（福田さんメール）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sz="1050" b="0">
                          <a:solidFill>
                            <a:srgbClr val="20242C"/>
                          </a:solidFill>
                          <a:latin typeface="Yu Gothic"/>
                          <a:ea typeface="Yu Gothic"/>
                        </a:rPr>
                        <a:t>執筆と並行してAIdiver等で一部を連載・講演化し、読者反応を先に取る。言葉の独り歩き対策も編集が設計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 spc="300">
                <a:solidFill>
                  <a:srgbClr val="B0442C"/>
                </a:solidFill>
                <a:latin typeface="Arial"/>
                <a:ea typeface="Arial"/>
              </a:rPr>
              <a:t>09 —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20242C"/>
                </a:solidFill>
                <a:latin typeface="Yu Mincho"/>
                <a:ea typeface="Yu Mincho"/>
              </a:rPr>
              <a:t>進め方（案）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A6070"/>
                </a:solidFill>
                <a:latin typeface="Yu Gothic"/>
                <a:ea typeface="Yu Gothic"/>
              </a:rPr>
              <a:t>『THE PRINCIPLE』（仮）方向性ディスカッション — 翔泳社 押久保・大久保 /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737360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F4FA3"/>
                </a:solidFill>
                <a:latin typeface="Arial"/>
                <a:ea typeface="Arial"/>
              </a:rPr>
              <a:t>本日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920239"/>
            <a:ext cx="0" cy="603505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97480" y="1874519"/>
            <a:ext cx="8854135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軸・読者・構成方針・タイトル方向感の合意。宿題の切り分け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79"/>
            <a:ext cx="1737360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F4FA3"/>
                </a:solidFill>
                <a:latin typeface="Arial"/>
                <a:ea typeface="Arial"/>
              </a:rPr>
              <a:t>〜9月中旬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743199"/>
            <a:ext cx="0" cy="603504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97480" y="2697479"/>
            <a:ext cx="8854135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編集部：合意した軸で章構成表（原則の割付マトリクス付き）を作成 → 福田さんレビュー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39"/>
            <a:ext cx="1737360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F4FA3"/>
                </a:solidFill>
                <a:latin typeface="Arial"/>
                <a:ea typeface="Arial"/>
              </a:rPr>
              <a:t>9月下旬〜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3566159"/>
            <a:ext cx="0" cy="603504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7480" y="3520439"/>
            <a:ext cx="8854135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福田さん：確定構成で第1稿の執筆開始（完成度の高い終章・フェーズ章から着手する案）。編集部：引用許諾リスト・図版ラフ・ワーク設計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737360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F4FA3"/>
                </a:solidFill>
                <a:latin typeface="Arial"/>
                <a:ea typeface="Arial"/>
              </a:rPr>
              <a:t>執筆中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4389120"/>
            <a:ext cx="0" cy="603504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97480" y="4343400"/>
            <a:ext cx="8854135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章単位のレビューサイクル（章ごとに壁打ち。全部書いてから、にしない）。連載・講演での先行検証を並走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737360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F4FA3"/>
                </a:solidFill>
                <a:latin typeface="Arial"/>
                <a:ea typeface="Arial"/>
              </a:rPr>
              <a:t>校了前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68880" y="5212080"/>
            <a:ext cx="0" cy="603504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97480" y="5166360"/>
            <a:ext cx="8854135" cy="69494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>
                <a:solidFill>
                  <a:srgbClr val="20242C"/>
                </a:solidFill>
                <a:latin typeface="Yu Gothic"/>
                <a:ea typeface="Yu Gothic"/>
              </a:rPr>
              <a:t>AI関連記述の最終アップデート。タイトル・帯の最終決定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A6070"/>
                </a:solidFill>
                <a:latin typeface="Yu Gothic"/>
                <a:ea typeface="Yu Gothic"/>
              </a:rPr>
              <a:t>編集体制：押久保剛（統括）＋大久保（編集担当：丸井さん・川上さん書籍の担当編集）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