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昨年</c:v>
                </c:pt>
              </c:strCache>
            </c:strRef>
          </c:tx>
          <c:spPr>
            <a:solidFill>
              <a:srgbClr val="A9B4D6"/>
            </a:solidFill>
          </c:spPr>
          <c:cat>
            <c:strRef>
              <c:f>Sheet1!$A$2:$A$4</c:f>
              <c:strCache>
                <c:ptCount val="3"/>
                <c:pt idx="0">
                  <c:v>4月</c:v>
                </c:pt>
                <c:pt idx="1">
                  <c:v>5月</c:v>
                </c:pt>
                <c:pt idx="2">
                  <c:v>6月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3.8</c:v>
                </c:pt>
                <c:pt idx="1">
                  <c:v>23.2</c:v>
                </c:pt>
                <c:pt idx="2">
                  <c:v>3.5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今年</c:v>
                </c:pt>
              </c:strCache>
            </c:strRef>
          </c:tx>
          <c:spPr>
            <a:solidFill>
              <a:srgbClr val="1E2761"/>
            </a:solidFill>
          </c:spPr>
          <c:cat>
            <c:strRef>
              <c:f>Sheet1!$A$2:$A$4</c:f>
              <c:strCache>
                <c:ptCount val="3"/>
                <c:pt idx="0">
                  <c:v>4月</c:v>
                </c:pt>
                <c:pt idx="1">
                  <c:v>5月</c:v>
                </c:pt>
                <c:pt idx="2">
                  <c:v>6月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2.2</c:v>
                </c:pt>
                <c:pt idx="1">
                  <c:v>8.1</c:v>
                </c:pt>
                <c:pt idx="2">
                  <c:v>22.9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800">
                  <a:solidFill>
                    <a:srgbClr val="444444"/>
                  </a:solidFill>
                  <a:latin typeface="Meiry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6DCEA"/>
            </a:solidFill>
          </a:ln>
        </c:spPr>
        <c:txPr>
          <a:bodyPr/>
          <a:lstStyle/>
          <a:p>
            <a:pPr>
              <a:defRPr sz="100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00">
              <a:latin typeface="Meiryo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40233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300" b="1">
                <a:solidFill>
                  <a:srgbClr val="1E2761"/>
                </a:solidFill>
                <a:latin typeface="Meiryo"/>
              </a:rPr>
              <a:t>メディア部門　6月度 PL報告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58368"/>
            <a:ext cx="5486400" cy="274320"/>
          </a:xfrm>
          <a:prstGeom prst="rect">
            <a:avLst/>
          </a:prstGeom>
          <a:solidFill>
            <a:srgbClr val="3A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250" b="1">
                <a:solidFill>
                  <a:srgbClr val="FFFFFF"/>
                </a:solidFill>
                <a:latin typeface="Meiryo"/>
              </a:rPr>
              <a:t>1. 6月　単月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960120"/>
          <a:ext cx="5486399" cy="13030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19"/>
                <a:gridCol w="2084832"/>
                <a:gridCol w="877824"/>
                <a:gridCol w="877824"/>
              </a:tblGrid>
              <a:tr h="260603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項目</a:t>
                      </a:r>
                    </a:p>
                  </a:txBody>
                  <a:tcPr marL="54864" marR="54864" marT="0" marB="0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実績</a:t>
                      </a:r>
                    </a:p>
                  </a:txBody>
                  <a:tcPr marL="54864" marR="54864" marT="0" marB="0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目対</a:t>
                      </a:r>
                    </a:p>
                  </a:txBody>
                  <a:tcPr marL="54864" marR="54864" marT="0" marB="0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昨対</a:t>
                      </a:r>
                    </a:p>
                  </a:txBody>
                  <a:tcPr marL="54864" marR="54864" marT="0" marB="0" anchor="ctr">
                    <a:solidFill>
                      <a:srgbClr val="1E2761"/>
                    </a:solidFill>
                  </a:tcPr>
                </a:tc>
              </a:tr>
              <a:tr h="26060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761"/>
                          </a:solidFill>
                          <a:latin typeface="Meiryo"/>
                        </a:rPr>
                        <a:t>売上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22222"/>
                          </a:solidFill>
                          <a:latin typeface="Meiryo"/>
                        </a:rPr>
                        <a:t>57,319,119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</a:rPr>
                        <a:t>68.2%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</a:rPr>
                        <a:t>57.9%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761"/>
                          </a:solidFill>
                          <a:latin typeface="Meiryo"/>
                        </a:rPr>
                        <a:t>売上原価</a:t>
                      </a:r>
                    </a:p>
                  </a:txBody>
                  <a:tcPr marL="54864" marR="54864" marT="0" marB="0" anchor="ctr"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22222"/>
                          </a:solidFill>
                          <a:latin typeface="Meiryo"/>
                        </a:rPr>
                        <a:t>41,160,318</a:t>
                      </a:r>
                    </a:p>
                  </a:txBody>
                  <a:tcPr marL="54864" marR="54864" marT="0" marB="0" anchor="ctr"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</a:rPr>
                        <a:t>78.1%</a:t>
                      </a:r>
                    </a:p>
                  </a:txBody>
                  <a:tcPr marL="54864" marR="54864" marT="0" marB="0" anchor="ctr"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</a:rPr>
                        <a:t>73.5%</a:t>
                      </a:r>
                    </a:p>
                  </a:txBody>
                  <a:tcPr marL="54864" marR="54864" marT="0" marB="0" anchor="ctr">
                    <a:solidFill>
                      <a:srgbClr val="EAF0FB"/>
                    </a:solidFill>
                  </a:tcPr>
                </a:tc>
              </a:tr>
              <a:tr h="26060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761"/>
                          </a:solidFill>
                          <a:latin typeface="Meiryo"/>
                        </a:rPr>
                        <a:t>粗利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22222"/>
                          </a:solidFill>
                          <a:latin typeface="Meiryo"/>
                        </a:rPr>
                        <a:t>16,158,801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</a:rPr>
                        <a:t>51.7%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</a:rPr>
                        <a:t>37.6%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761"/>
                          </a:solidFill>
                          <a:latin typeface="Meiryo"/>
                        </a:rPr>
                        <a:t>営利</a:t>
                      </a:r>
                    </a:p>
                  </a:txBody>
                  <a:tcPr marL="54864" marR="54864" marT="0" marB="0" anchor="ctr"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C0392B"/>
                          </a:solidFill>
                          <a:latin typeface="Meiryo"/>
                        </a:rPr>
                        <a:t>▲22,927,030</a:t>
                      </a:r>
                    </a:p>
                  </a:txBody>
                  <a:tcPr marL="54864" marR="54864" marT="0" marB="0" anchor="ctr"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</a:rPr>
                        <a:t>472.2%</a:t>
                      </a:r>
                    </a:p>
                  </a:txBody>
                  <a:tcPr marL="54864" marR="54864" marT="0" marB="0" anchor="ctr"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</a:rPr>
                        <a:t>659.8%</a:t>
                      </a:r>
                    </a:p>
                  </a:txBody>
                  <a:tcPr marL="54864" marR="54864" marT="0" marB="0" anchor="ctr">
                    <a:solidFill>
                      <a:srgbClr val="EAF0FB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263640" y="658368"/>
            <a:ext cx="5486400" cy="274320"/>
          </a:xfrm>
          <a:prstGeom prst="rect">
            <a:avLst/>
          </a:prstGeom>
          <a:solidFill>
            <a:srgbClr val="3A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250" b="1">
                <a:solidFill>
                  <a:srgbClr val="FFFFFF"/>
                </a:solidFill>
                <a:latin typeface="Meiryo"/>
              </a:rPr>
              <a:t>2. 4〜6月　累計（1Q）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63640" y="960120"/>
          <a:ext cx="5486399" cy="13030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19"/>
                <a:gridCol w="2084832"/>
                <a:gridCol w="877824"/>
                <a:gridCol w="877824"/>
              </a:tblGrid>
              <a:tr h="260603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項目</a:t>
                      </a:r>
                    </a:p>
                  </a:txBody>
                  <a:tcPr marL="54864" marR="54864" marT="0" marB="0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実績</a:t>
                      </a:r>
                    </a:p>
                  </a:txBody>
                  <a:tcPr marL="54864" marR="54864" marT="0" marB="0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目対</a:t>
                      </a:r>
                    </a:p>
                  </a:txBody>
                  <a:tcPr marL="54864" marR="54864" marT="0" marB="0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昨対</a:t>
                      </a:r>
                    </a:p>
                  </a:txBody>
                  <a:tcPr marL="54864" marR="54864" marT="0" marB="0" anchor="ctr">
                    <a:solidFill>
                      <a:srgbClr val="1E2761"/>
                    </a:solidFill>
                  </a:tcPr>
                </a:tc>
              </a:tr>
              <a:tr h="26060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761"/>
                          </a:solidFill>
                          <a:latin typeface="Meiryo"/>
                        </a:rPr>
                        <a:t>売上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22222"/>
                          </a:solidFill>
                          <a:latin typeface="Meiryo"/>
                        </a:rPr>
                        <a:t>193,801,160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</a:rPr>
                        <a:t>72.2%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</a:rPr>
                        <a:t>81.8%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761"/>
                          </a:solidFill>
                          <a:latin typeface="Meiryo"/>
                        </a:rPr>
                        <a:t>売上原価</a:t>
                      </a:r>
                    </a:p>
                  </a:txBody>
                  <a:tcPr marL="54864" marR="54864" marT="0" marB="0" anchor="ctr"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22222"/>
                          </a:solidFill>
                          <a:latin typeface="Meiryo"/>
                        </a:rPr>
                        <a:t>113,318,427</a:t>
                      </a:r>
                    </a:p>
                  </a:txBody>
                  <a:tcPr marL="54864" marR="54864" marT="0" marB="0" anchor="ctr"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</a:rPr>
                        <a:t>70.1%</a:t>
                      </a:r>
                    </a:p>
                  </a:txBody>
                  <a:tcPr marL="54864" marR="54864" marT="0" marB="0" anchor="ctr"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</a:rPr>
                        <a:t>85.9%</a:t>
                      </a:r>
                    </a:p>
                  </a:txBody>
                  <a:tcPr marL="54864" marR="54864" marT="0" marB="0" anchor="ctr">
                    <a:solidFill>
                      <a:srgbClr val="EAF0FB"/>
                    </a:solidFill>
                  </a:tcPr>
                </a:tc>
              </a:tr>
              <a:tr h="26060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761"/>
                          </a:solidFill>
                          <a:latin typeface="Meiryo"/>
                        </a:rPr>
                        <a:t>粗利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22222"/>
                          </a:solidFill>
                          <a:latin typeface="Meiryo"/>
                        </a:rPr>
                        <a:t>80,482,733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</a:rPr>
                        <a:t>75.3%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</a:rPr>
                        <a:t>76.8%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761"/>
                          </a:solidFill>
                          <a:latin typeface="Meiryo"/>
                        </a:rPr>
                        <a:t>営利</a:t>
                      </a:r>
                    </a:p>
                  </a:txBody>
                  <a:tcPr marL="54864" marR="54864" marT="0" marB="0" anchor="ctr"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C0392B"/>
                          </a:solidFill>
                          <a:latin typeface="Meiryo"/>
                        </a:rPr>
                        <a:t>▲33,152,829</a:t>
                      </a:r>
                    </a:p>
                  </a:txBody>
                  <a:tcPr marL="54864" marR="54864" marT="0" marB="0" anchor="ctr"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</a:rPr>
                        <a:t>4780.2%</a:t>
                      </a:r>
                    </a:p>
                  </a:txBody>
                  <a:tcPr marL="54864" marR="54864" marT="0" marB="0" anchor="ctr"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</a:rPr>
                        <a:t>108.8%</a:t>
                      </a:r>
                    </a:p>
                  </a:txBody>
                  <a:tcPr marL="54864" marR="54864" marT="0" marB="0" anchor="ctr">
                    <a:solidFill>
                      <a:srgbClr val="EAF0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2377440"/>
            <a:ext cx="5486400" cy="182880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00" b="1">
                <a:solidFill>
                  <a:srgbClr val="1E2761"/>
                </a:solidFill>
                <a:latin typeface="Meiryo"/>
              </a:rPr>
              <a:t>・</a:t>
            </a:r>
            <a:r>
              <a:rPr sz="1000" b="0">
                <a:solidFill>
                  <a:srgbClr val="333333"/>
                </a:solidFill>
                <a:latin typeface="Meiryo"/>
              </a:rPr>
              <a:t>6月は売上未達で粗利・営利とも計画割れ。ただし原価は予算比78.1%・前年比73.5%と抑えられており、論点はコストではなく売上（受注環境に加え、プロダクトを磨ききれていない、強いプロダクトを生み出せていない面もある）</a:t>
            </a:r>
          </a:p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00" b="1">
                <a:solidFill>
                  <a:srgbClr val="1E2761"/>
                </a:solidFill>
                <a:latin typeface="Meiryo"/>
              </a:rPr>
              <a:t>・</a:t>
            </a:r>
            <a:r>
              <a:rPr sz="1000" b="0">
                <a:solidFill>
                  <a:srgbClr val="333333"/>
                </a:solidFill>
                <a:latin typeface="Meiryo"/>
              </a:rPr>
              <a:t>4月・5月は前年から赤字幅を縮小できている（コスト改善の成果）。6月の売上未達で赤字が膨らみ、1Q累計は¥-33,152,829と前年（¥-30,459,387）並みに着地</a:t>
            </a:r>
          </a:p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00" b="1">
                <a:solidFill>
                  <a:srgbClr val="1E2761"/>
                </a:solidFill>
                <a:latin typeface="Meiryo"/>
              </a:rPr>
              <a:t>・</a:t>
            </a:r>
            <a:r>
              <a:rPr sz="1000" b="0">
                <a:solidFill>
                  <a:srgbClr val="333333"/>
                </a:solidFill>
                <a:latin typeface="Meiryo"/>
              </a:rPr>
              <a:t>改善基調には手ごたえあり。残る課題は売上の積み上げ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23317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50" b="1">
                <a:solidFill>
                  <a:srgbClr val="1E2761"/>
                </a:solidFill>
                <a:latin typeface="Meiryo"/>
              </a:rPr>
              <a:t>月次 営業赤字額（百万円・小さいほど改善）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263640" y="2651760"/>
          <a:ext cx="5486400" cy="1691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457200" y="4443984"/>
            <a:ext cx="3200400" cy="36576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50" b="1">
                <a:solidFill>
                  <a:srgbClr val="FFFFFF"/>
                </a:solidFill>
                <a:latin typeface="Meiryo"/>
              </a:rPr>
              <a:t>総括＆ネクストアクション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901184"/>
            <a:ext cx="11274552" cy="1700784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974336"/>
            <a:ext cx="11018520" cy="157276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>
            <a:spAutoFit/>
          </a:bodyPr>
          <a:lstStyle/>
          <a:p>
            <a:pPr algn="l">
              <a:lnSpc>
                <a:spcPct val="103000"/>
              </a:lnSpc>
              <a:spcAft>
                <a:spcPts val="500"/>
              </a:spcAft>
            </a:pPr>
            <a:r>
              <a:rPr sz="1150" b="1">
                <a:solidFill>
                  <a:srgbClr val="1E2761"/>
                </a:solidFill>
                <a:latin typeface="Meiryo"/>
              </a:rPr>
              <a:t>・</a:t>
            </a:r>
            <a:r>
              <a:rPr sz="1150" b="0">
                <a:solidFill>
                  <a:srgbClr val="333333"/>
                </a:solidFill>
                <a:latin typeface="Meiryo"/>
              </a:rPr>
              <a:t>4月・5月は前年から利益を改善でき、原価コントロールも順調。地力は着実についてきている</a:t>
            </a:r>
          </a:p>
          <a:p>
            <a:pPr algn="l">
              <a:lnSpc>
                <a:spcPct val="103000"/>
              </a:lnSpc>
              <a:spcAft>
                <a:spcPts val="500"/>
              </a:spcAft>
            </a:pPr>
            <a:r>
              <a:rPr sz="1150" b="1">
                <a:solidFill>
                  <a:srgbClr val="1E2761"/>
                </a:solidFill>
                <a:latin typeface="Meiryo"/>
              </a:rPr>
              <a:t>・</a:t>
            </a:r>
            <a:r>
              <a:rPr sz="1150" b="0">
                <a:solidFill>
                  <a:srgbClr val="333333"/>
                </a:solidFill>
                <a:latin typeface="Meiryo"/>
              </a:rPr>
              <a:t>6月は大幅赤字になったがコストではなく売上が論点。営業面の改善と売りやすい強いプロダクトづくりが次の一手</a:t>
            </a:r>
          </a:p>
          <a:p>
            <a:pPr algn="l">
              <a:lnSpc>
                <a:spcPct val="103000"/>
              </a:lnSpc>
              <a:spcAft>
                <a:spcPts val="500"/>
              </a:spcAft>
            </a:pPr>
            <a:r>
              <a:rPr sz="1150" b="1">
                <a:solidFill>
                  <a:srgbClr val="1E2761"/>
                </a:solidFill>
                <a:latin typeface="Meiryo"/>
              </a:rPr>
              <a:t>・</a:t>
            </a:r>
            <a:r>
              <a:rPr sz="1150" b="0">
                <a:solidFill>
                  <a:srgbClr val="333333"/>
                </a:solidFill>
                <a:latin typeface="Meiryo"/>
              </a:rPr>
              <a:t>7〜9月はイベント売上が好調で、2Qは予算に肉薄する見通し。1Qの遅れは2Qで取り返せる位置にある</a:t>
            </a:r>
          </a:p>
          <a:p>
            <a:pPr algn="l">
              <a:lnSpc>
                <a:spcPct val="103000"/>
              </a:lnSpc>
              <a:spcAft>
                <a:spcPts val="500"/>
              </a:spcAft>
            </a:pPr>
            <a:r>
              <a:rPr sz="1150" b="1">
                <a:solidFill>
                  <a:srgbClr val="1E2761"/>
                </a:solidFill>
                <a:latin typeface="Meiryo"/>
              </a:rPr>
              <a:t>・</a:t>
            </a:r>
            <a:r>
              <a:rPr sz="1150" b="0">
                <a:solidFill>
                  <a:srgbClr val="333333"/>
                </a:solidFill>
                <a:latin typeface="Meiryo"/>
              </a:rPr>
              <a:t>両部門一丸でプロダクトを磨き、好調なイベントを軸に連携して挽回していく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