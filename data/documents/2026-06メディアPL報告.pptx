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予算</c:v>
                </c:pt>
              </c:strCache>
            </c:strRef>
          </c:tx>
          <c:spPr>
            <a:solidFill>
              <a:srgbClr val="A9B4D6"/>
            </a:solidFill>
          </c:spPr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173.6</c:v>
                </c:pt>
                <c:pt idx="1">
                  <c:v>86.5</c:v>
                </c:pt>
                <c:pt idx="2">
                  <c:v>205.1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見込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182.4</c:v>
                </c:pt>
                <c:pt idx="1">
                  <c:v>72.5</c:v>
                </c:pt>
                <c:pt idx="2">
                  <c:v>192.9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444444"/>
                  </a:solidFill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CEA"/>
            </a:solidFill>
          </a:ln>
        </c:spPr>
        <c:txPr>
          <a:bodyPr/>
          <a:lstStyle/>
          <a:p>
            <a:pPr>
              <a:defRPr sz="11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0292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Meiryo"/>
              </a:rPr>
              <a:t>6月単月 ＆ 4〜6月累計（1Q）の結果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solidFill>
            <a:srgbClr val="3A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6月　単月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4864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5376"/>
                <a:gridCol w="1865376"/>
                <a:gridCol w="877824"/>
                <a:gridCol w="877824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実績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目対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昨対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売上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222222"/>
                          </a:solidFill>
                          <a:latin typeface="Meiryo"/>
                        </a:rPr>
                        <a:t>57,319,119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68.2%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57.9%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売上原価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222222"/>
                          </a:solidFill>
                          <a:latin typeface="Meiryo"/>
                        </a:rPr>
                        <a:t>41,160,318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78.1%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73.5%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粗利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222222"/>
                          </a:solidFill>
                          <a:latin typeface="Meiryo"/>
                        </a:rPr>
                        <a:t>16,158,801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51.7%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37.6%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営利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C0392B"/>
                          </a:solidFill>
                          <a:latin typeface="Meiryo"/>
                        </a:rPr>
                        <a:t>▲22,927,030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472.2%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659.8%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263640" y="1143000"/>
            <a:ext cx="5486400" cy="365760"/>
          </a:xfrm>
          <a:prstGeom prst="rect">
            <a:avLst/>
          </a:prstGeom>
          <a:solidFill>
            <a:srgbClr val="3A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4〜6月　累計（1Q）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554480"/>
          <a:ext cx="54864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5376"/>
                <a:gridCol w="1865376"/>
                <a:gridCol w="877824"/>
                <a:gridCol w="877824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実績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目対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昨対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売上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222222"/>
                          </a:solidFill>
                          <a:latin typeface="Meiryo"/>
                        </a:rPr>
                        <a:t>193,801,160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72.2%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81.8%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売上原価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222222"/>
                          </a:solidFill>
                          <a:latin typeface="Meiryo"/>
                        </a:rPr>
                        <a:t>113,318,427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70.1%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85.9%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粗利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222222"/>
                          </a:solidFill>
                          <a:latin typeface="Meiryo"/>
                        </a:rPr>
                        <a:t>80,482,733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75.3%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76.8%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営利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C0392B"/>
                          </a:solidFill>
                          <a:latin typeface="Meiryo"/>
                        </a:rPr>
                        <a:t>▲33,152,829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4780.2%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Meiryo"/>
                        </a:rPr>
                        <a:t>108.8%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60520"/>
            <a:ext cx="11292840" cy="868680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txBody>
          <a:bodyPr wrap="square" lIns="109728" rIns="109728" tIns="109728" bIns="10972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761"/>
                </a:solidFill>
                <a:latin typeface="Meiryo"/>
              </a:rPr>
              <a:t>POINT　</a:t>
            </a:r>
            <a:r>
              <a:rPr sz="1300" b="0">
                <a:solidFill>
                  <a:srgbClr val="333333"/>
                </a:solidFill>
                <a:latin typeface="Meiryo"/>
              </a:rPr>
              <a:t>6月は売上未達で赤字拡大。ただし論点はコストではなく売上（原価は予算比78.1%・前年比73.5%と抑制）。4〜5月は前年から赤字幅を縮小でき、改善基調には手ごたえあり。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0292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Meiryo"/>
              </a:rPr>
              <a:t>7〜9月（2Q）の売上見込み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212080" cy="365760"/>
          </a:xfrm>
          <a:prstGeom prst="rect">
            <a:avLst/>
          </a:prstGeom>
          <a:solidFill>
            <a:srgbClr val="3A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売上見込（総計＝WEB＋イベント）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212078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57"/>
                <a:gridCol w="1667865"/>
                <a:gridCol w="1667865"/>
                <a:gridCol w="729691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月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予算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見込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達成率</a:t>
                      </a:r>
                    </a:p>
                  </a:txBody>
                  <a:tcPr marL="73152" marR="73152" marT="18288" marB="18288" anchor="ctr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7月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</a:rPr>
                        <a:t>173,600,000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22222"/>
                          </a:solidFill>
                          <a:latin typeface="Meiryo"/>
                        </a:rPr>
                        <a:t>182,387,615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E8449"/>
                          </a:solidFill>
                          <a:latin typeface="Meiryo"/>
                        </a:rPr>
                        <a:t>105%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8月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</a:rPr>
                        <a:t>86,500,000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22222"/>
                          </a:solidFill>
                          <a:latin typeface="Meiryo"/>
                        </a:rPr>
                        <a:t>72,504,500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333333"/>
                          </a:solidFill>
                          <a:latin typeface="Meiryo"/>
                        </a:rPr>
                        <a:t>84%</a:t>
                      </a:r>
                    </a:p>
                  </a:txBody>
                  <a:tcPr marL="73152" marR="73152" marT="18288" marB="18288" anchor="ctr">
                    <a:solidFill>
                      <a:srgbClr val="EAF0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9月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</a:rPr>
                        <a:t>205,050,000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22222"/>
                          </a:solidFill>
                          <a:latin typeface="Meiryo"/>
                        </a:rPr>
                        <a:t>192,889,933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333333"/>
                          </a:solidFill>
                          <a:latin typeface="Meiryo"/>
                        </a:rPr>
                        <a:t>94%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Meiryo"/>
                        </a:rPr>
                        <a:t>2Q計</a:t>
                      </a:r>
                    </a:p>
                  </a:txBody>
                  <a:tcPr marL="73152" marR="73152" marT="18288" marB="18288" anchor="ctr">
                    <a:solidFill>
                      <a:srgbClr val="DCE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</a:rPr>
                        <a:t>465,150,000</a:t>
                      </a:r>
                    </a:p>
                  </a:txBody>
                  <a:tcPr marL="73152" marR="73152" marT="18288" marB="18288" anchor="ctr">
                    <a:solidFill>
                      <a:srgbClr val="DCE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22222"/>
                          </a:solidFill>
                          <a:latin typeface="Meiryo"/>
                        </a:rPr>
                        <a:t>447,782,048</a:t>
                      </a:r>
                    </a:p>
                  </a:txBody>
                  <a:tcPr marL="73152" marR="73152" marT="18288" marB="18288" anchor="ctr">
                    <a:solidFill>
                      <a:srgbClr val="DCE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333333"/>
                          </a:solidFill>
                          <a:latin typeface="Meiryo"/>
                        </a:rPr>
                        <a:t>96%</a:t>
                      </a:r>
                    </a:p>
                  </a:txBody>
                  <a:tcPr marL="73152" marR="73152" marT="18288" marB="18288" anchor="ctr">
                    <a:solidFill>
                      <a:srgbClr val="DCE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09728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Meiryo"/>
              </a:rPr>
              <a:t>月次 予算 vs 見込（百万円）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508760"/>
          <a:ext cx="576072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26280"/>
            <a:ext cx="11292840" cy="914400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txBody>
          <a:bodyPr wrap="square" lIns="109728" rIns="109728" tIns="109728" bIns="10972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761"/>
                </a:solidFill>
                <a:latin typeface="Meiryo"/>
              </a:rPr>
              <a:t>POINT　</a:t>
            </a:r>
            <a:r>
              <a:rPr sz="1300" b="0">
                <a:solidFill>
                  <a:srgbClr val="333333"/>
                </a:solidFill>
                <a:latin typeface="Meiryo"/>
              </a:rPr>
              <a:t>2Qは売上見込が予算の96%まで回復見通し。好調なイベント売上が牽引（2Q達成率105%、7月115%・8月152%）。2Q営業利益は予算＋131,869,730の黒字計画で、1Qの累計赤字は取り返せる射程。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総括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2000" b="1">
                <a:solidFill>
                  <a:srgbClr val="1E2761"/>
                </a:solidFill>
                <a:latin typeface="Meiry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44168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eiryo"/>
              </a:rPr>
              <a:t>4〜5月は前年から利益改善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ADCFC"/>
                </a:solidFill>
                <a:latin typeface="Meiryo"/>
              </a:rPr>
              <a:t>原価コントロールも順調で、地力は着実についてきている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2000" b="1">
                <a:solidFill>
                  <a:srgbClr val="1E2761"/>
                </a:solidFill>
                <a:latin typeface="Meiry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95728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eiryo"/>
              </a:rPr>
              <a:t>6月は大幅赤字もコストではなく売上が論点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ADCFC"/>
                </a:solidFill>
                <a:latin typeface="Meiryo"/>
              </a:rPr>
              <a:t>営業面の改善と、売りやすい強いプロダクトづくりが次の一手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2000" b="1">
                <a:solidFill>
                  <a:srgbClr val="1E2761"/>
                </a:solidFill>
                <a:latin typeface="Meiry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47288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eiryo"/>
              </a:rPr>
              <a:t>7〜9月はイベント売上が好調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ADCFC"/>
                </a:solidFill>
                <a:latin typeface="Meiryo"/>
              </a:rPr>
              <a:t>2Qは予算に肉薄する見通し。1Qの遅れは2Qで取り返せる位置に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572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2000" b="1">
                <a:solidFill>
                  <a:srgbClr val="1E2761"/>
                </a:solidFill>
                <a:latin typeface="Meiryo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98848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eiryo"/>
              </a:rPr>
              <a:t>両部門一丸で挽回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ADCFC"/>
                </a:solidFill>
                <a:latin typeface="Meiryo"/>
              </a:rPr>
              <a:t>プロダクトを磨き、好調なイベントを軸に連携して取り返す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